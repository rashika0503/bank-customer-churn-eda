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8D73943-9631-48BA-A9DB-86786EDB7C11}"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1854090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8D73943-9631-48BA-A9DB-86786EDB7C11}"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19725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D73943-9631-48BA-A9DB-86786EDB7C11}"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3777088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8D73943-9631-48BA-A9DB-86786EDB7C11}"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903111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8D73943-9631-48BA-A9DB-86786EDB7C11}" type="datetimeFigureOut">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3295524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8D73943-9631-48BA-A9DB-86786EDB7C11}" type="datetimeFigureOut">
              <a:rPr lang="en-IN" smtClean="0"/>
              <a:t>22-06-2026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344439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D73943-9631-48BA-A9DB-86786EDB7C11}" type="datetimeFigureOut">
              <a:rPr lang="en-IN" smtClean="0"/>
              <a:t>22-06-2026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244332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D73943-9631-48BA-A9DB-86786EDB7C11}"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3865970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D73943-9631-48BA-A9DB-86786EDB7C11}"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3373620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8D73943-9631-48BA-A9DB-86786EDB7C11}"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2966608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8D73943-9631-48BA-A9DB-86786EDB7C11}"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4E0AA7-0452-451C-9989-91344228EC29}" type="slidenum">
              <a:rPr lang="en-IN" smtClean="0"/>
              <a:t>‹#›</a:t>
            </a:fld>
            <a:endParaRPr lang="en-IN"/>
          </a:p>
        </p:txBody>
      </p:sp>
    </p:spTree>
    <p:extLst>
      <p:ext uri="{BB962C8B-B14F-4D97-AF65-F5344CB8AC3E}">
        <p14:creationId xmlns:p14="http://schemas.microsoft.com/office/powerpoint/2010/main" val="201316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D73943-9631-48BA-A9DB-86786EDB7C11}" type="datetimeFigureOut">
              <a:rPr lang="en-IN" smtClean="0"/>
              <a:t>22-06-2026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4E0AA7-0452-451C-9989-91344228EC29}" type="slidenum">
              <a:rPr lang="en-IN" smtClean="0"/>
              <a:t>‹#›</a:t>
            </a:fld>
            <a:endParaRPr lang="en-IN"/>
          </a:p>
        </p:txBody>
      </p:sp>
    </p:spTree>
    <p:extLst>
      <p:ext uri="{BB962C8B-B14F-4D97-AF65-F5344CB8AC3E}">
        <p14:creationId xmlns:p14="http://schemas.microsoft.com/office/powerpoint/2010/main" val="1158517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86728"/>
          </a:xfrm>
        </p:spPr>
        <p:txBody>
          <a:bodyPr>
            <a:normAutofit fontScale="90000"/>
          </a:bodyPr>
          <a:lstStyle/>
          <a:p>
            <a:r>
              <a:rPr lang="en-US" sz="4000" b="1" dirty="0" smtClean="0">
                <a:latin typeface="Arial" panose="020B0604020202020204" pitchFamily="34" charset="0"/>
                <a:cs typeface="Arial" panose="020B0604020202020204" pitchFamily="34" charset="0"/>
              </a:rPr>
              <a:t>Exploratory Data Analysis of Bank Customer Churn Dataset</a:t>
            </a:r>
            <a:endParaRPr lang="en-IN" sz="40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2641454"/>
            <a:ext cx="9144000" cy="3463781"/>
          </a:xfrm>
        </p:spPr>
        <p:txBody>
          <a:bodyPr>
            <a:noAutofit/>
          </a:bodyPr>
          <a:lstStyle/>
          <a:p>
            <a:pPr algn="l"/>
            <a:r>
              <a:rPr lang="en-US" dirty="0" smtClean="0"/>
              <a:t>Submitted By: </a:t>
            </a:r>
            <a:r>
              <a:rPr lang="en-US" i="1" dirty="0" smtClean="0"/>
              <a:t>Your Name</a:t>
            </a:r>
            <a:r>
              <a:rPr lang="en-US" dirty="0" smtClean="0"/>
              <a:t> </a:t>
            </a:r>
          </a:p>
          <a:p>
            <a:pPr algn="l"/>
            <a:r>
              <a:rPr lang="en-US" dirty="0" smtClean="0"/>
              <a:t>Internship Name : </a:t>
            </a:r>
            <a:r>
              <a:rPr lang="en-US" dirty="0" err="1" smtClean="0"/>
              <a:t>DataXLabs</a:t>
            </a:r>
            <a:r>
              <a:rPr lang="en-US" dirty="0" smtClean="0"/>
              <a:t> Data Analyst Internship</a:t>
            </a:r>
          </a:p>
          <a:p>
            <a:pPr algn="l"/>
            <a:r>
              <a:rPr lang="en-US" dirty="0" smtClean="0"/>
              <a:t>Tools Used: </a:t>
            </a:r>
            <a:r>
              <a:rPr lang="en-US" sz="2400" dirty="0" smtClean="0"/>
              <a:t>Python, Pandas, </a:t>
            </a:r>
            <a:r>
              <a:rPr lang="en-US" sz="2400" dirty="0" err="1" smtClean="0"/>
              <a:t>Matplotlib</a:t>
            </a:r>
            <a:r>
              <a:rPr lang="en-US" sz="2400" dirty="0" smtClean="0"/>
              <a:t>,</a:t>
            </a:r>
            <a:r>
              <a:rPr lang="en-US" dirty="0"/>
              <a:t> </a:t>
            </a:r>
            <a:r>
              <a:rPr lang="en-US" sz="2400" dirty="0" err="1" smtClean="0"/>
              <a:t>Seaborn</a:t>
            </a:r>
            <a:r>
              <a:rPr lang="en-US" sz="2400" dirty="0" smtClean="0"/>
              <a:t> </a:t>
            </a:r>
            <a:endParaRPr lang="en-US" sz="2400" dirty="0"/>
          </a:p>
        </p:txBody>
      </p:sp>
    </p:spTree>
    <p:extLst>
      <p:ext uri="{BB962C8B-B14F-4D97-AF65-F5344CB8AC3E}">
        <p14:creationId xmlns:p14="http://schemas.microsoft.com/office/powerpoint/2010/main" val="137546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 Extract insights using visual and statistical exploration</a:t>
            </a:r>
            <a:r>
              <a:rPr lang="en-US" dirty="0" smtClean="0"/>
              <a:t>.</a:t>
            </a:r>
            <a:endParaRPr lang="en-US" dirty="0" smtClean="0"/>
          </a:p>
        </p:txBody>
      </p:sp>
    </p:spTree>
    <p:extLst>
      <p:ext uri="{BB962C8B-B14F-4D97-AF65-F5344CB8AC3E}">
        <p14:creationId xmlns:p14="http://schemas.microsoft.com/office/powerpoint/2010/main" val="374479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Data Cleaning</a:t>
            </a:r>
            <a:endParaRPr lang="en-IN" b="1" dirty="0"/>
          </a:p>
        </p:txBody>
      </p:sp>
      <p:sp>
        <p:nvSpPr>
          <p:cNvPr id="3" name="Content Placeholder 2"/>
          <p:cNvSpPr>
            <a:spLocks noGrp="1"/>
          </p:cNvSpPr>
          <p:nvPr>
            <p:ph idx="1"/>
          </p:nvPr>
        </p:nvSpPr>
        <p:spPr/>
        <p:txBody>
          <a:bodyPr/>
          <a:lstStyle/>
          <a:p>
            <a:r>
              <a:rPr lang="en-US" b="1" dirty="0" smtClean="0"/>
              <a:t>Data Preprocessing Steps</a:t>
            </a:r>
          </a:p>
          <a:p>
            <a:r>
              <a:rPr lang="en-US" dirty="0" smtClean="0"/>
              <a:t> Checked data types</a:t>
            </a:r>
          </a:p>
          <a:p>
            <a:r>
              <a:rPr lang="en-US" dirty="0"/>
              <a:t> </a:t>
            </a:r>
            <a:r>
              <a:rPr lang="en-US" dirty="0" smtClean="0"/>
              <a:t>Checked missing values</a:t>
            </a:r>
          </a:p>
          <a:p>
            <a:r>
              <a:rPr lang="en-US" dirty="0" smtClean="0"/>
              <a:t> Checked duplicate records</a:t>
            </a:r>
          </a:p>
          <a:p>
            <a:r>
              <a:rPr lang="en-US" dirty="0" smtClean="0"/>
              <a:t> Removed </a:t>
            </a:r>
            <a:r>
              <a:rPr lang="en-US" dirty="0" err="1" smtClean="0"/>
              <a:t>customer_id</a:t>
            </a:r>
            <a:r>
              <a:rPr lang="en-US" dirty="0" smtClean="0"/>
              <a:t> column</a:t>
            </a:r>
            <a:endParaRPr lang="en-US" dirty="0"/>
          </a:p>
        </p:txBody>
      </p:sp>
    </p:spTree>
    <p:extLst>
      <p:ext uri="{BB962C8B-B14F-4D97-AF65-F5344CB8AC3E}">
        <p14:creationId xmlns:p14="http://schemas.microsoft.com/office/powerpoint/2010/main" val="1366526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Age Distribution</a:t>
            </a:r>
            <a:endParaRPr lang="en-IN" dirty="0"/>
          </a:p>
        </p:txBody>
      </p:sp>
      <p:sp>
        <p:nvSpPr>
          <p:cNvPr id="3" name="Content Placeholder 2"/>
          <p:cNvSpPr>
            <a:spLocks noGrp="1"/>
          </p:cNvSpPr>
          <p:nvPr>
            <p:ph idx="1"/>
          </p:nvPr>
        </p:nvSpPr>
        <p:spPr/>
        <p:txBody>
          <a:bodyPr/>
          <a:lstStyle/>
          <a:p>
            <a:r>
              <a:rPr lang="en-US" b="1" dirty="0" smtClean="0"/>
              <a:t>Observation</a:t>
            </a:r>
          </a:p>
          <a:p>
            <a:pPr marL="0" indent="0">
              <a:buNone/>
            </a:pPr>
            <a:r>
              <a:rPr lang="en-US" sz="2000" dirty="0" smtClean="0"/>
              <a:t>Most customers belong to the age group 30–45 years</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6547867" y="1349284"/>
            <a:ext cx="5321573" cy="3549832"/>
          </a:xfrm>
          <a:prstGeom prst="rect">
            <a:avLst/>
          </a:prstGeom>
        </p:spPr>
      </p:pic>
    </p:spTree>
    <p:extLst>
      <p:ext uri="{BB962C8B-B14F-4D97-AF65-F5344CB8AC3E}">
        <p14:creationId xmlns:p14="http://schemas.microsoft.com/office/powerpoint/2010/main" val="3238958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Credit Score Distribution</a:t>
            </a:r>
            <a:endParaRPr lang="en-IN" b="1" dirty="0"/>
          </a:p>
        </p:txBody>
      </p:sp>
      <p:sp>
        <p:nvSpPr>
          <p:cNvPr id="3" name="Content Placeholder 2"/>
          <p:cNvSpPr>
            <a:spLocks noGrp="1"/>
          </p:cNvSpPr>
          <p:nvPr>
            <p:ph idx="1"/>
          </p:nvPr>
        </p:nvSpPr>
        <p:spPr/>
        <p:txBody>
          <a:bodyPr/>
          <a:lstStyle/>
          <a:p>
            <a:r>
              <a:rPr lang="en-US" b="1" dirty="0" smtClean="0"/>
              <a:t>Observation</a:t>
            </a:r>
          </a:p>
          <a:p>
            <a:pPr marL="0" indent="0">
              <a:buNone/>
            </a:pPr>
            <a:r>
              <a:rPr lang="en-US" sz="2000" dirty="0" smtClean="0"/>
              <a:t>Credit scores are approximately normally distributed.</a:t>
            </a:r>
            <a:endParaRPr lang="en-US" sz="2000" dirty="0"/>
          </a:p>
        </p:txBody>
      </p:sp>
      <p:pic>
        <p:nvPicPr>
          <p:cNvPr id="4" name="Picture 3"/>
          <p:cNvPicPr>
            <a:picLocks noChangeAspect="1"/>
          </p:cNvPicPr>
          <p:nvPr/>
        </p:nvPicPr>
        <p:blipFill>
          <a:blip r:embed="rId2"/>
          <a:stretch>
            <a:fillRect/>
          </a:stretch>
        </p:blipFill>
        <p:spPr>
          <a:xfrm>
            <a:off x="6622337" y="1825625"/>
            <a:ext cx="5283472" cy="3543482"/>
          </a:xfrm>
          <a:prstGeom prst="rect">
            <a:avLst/>
          </a:prstGeom>
        </p:spPr>
      </p:pic>
    </p:spTree>
    <p:extLst>
      <p:ext uri="{BB962C8B-B14F-4D97-AF65-F5344CB8AC3E}">
        <p14:creationId xmlns:p14="http://schemas.microsoft.com/office/powerpoint/2010/main" val="2843305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Boxplots</a:t>
            </a:r>
            <a:endParaRPr lang="en-IN" b="1" dirty="0"/>
          </a:p>
        </p:txBody>
      </p:sp>
      <p:pic>
        <p:nvPicPr>
          <p:cNvPr id="4" name="Content Placeholder 3"/>
          <p:cNvPicPr>
            <a:picLocks noGrp="1" noChangeAspect="1"/>
          </p:cNvPicPr>
          <p:nvPr>
            <p:ph idx="1"/>
          </p:nvPr>
        </p:nvPicPr>
        <p:blipFill>
          <a:blip r:embed="rId2"/>
          <a:stretch>
            <a:fillRect/>
          </a:stretch>
        </p:blipFill>
        <p:spPr>
          <a:xfrm>
            <a:off x="838200" y="2890945"/>
            <a:ext cx="4330923" cy="2838596"/>
          </a:xfrm>
          <a:prstGeom prst="rect">
            <a:avLst/>
          </a:prstGeom>
        </p:spPr>
      </p:pic>
      <p:pic>
        <p:nvPicPr>
          <p:cNvPr id="5" name="Picture 4"/>
          <p:cNvPicPr>
            <a:picLocks noChangeAspect="1"/>
          </p:cNvPicPr>
          <p:nvPr/>
        </p:nvPicPr>
        <p:blipFill>
          <a:blip r:embed="rId3"/>
          <a:stretch>
            <a:fillRect/>
          </a:stretch>
        </p:blipFill>
        <p:spPr>
          <a:xfrm>
            <a:off x="6021421" y="2903646"/>
            <a:ext cx="4305521" cy="2825895"/>
          </a:xfrm>
          <a:prstGeom prst="rect">
            <a:avLst/>
          </a:prstGeom>
        </p:spPr>
      </p:pic>
      <p:sp>
        <p:nvSpPr>
          <p:cNvPr id="6" name="TextBox 5"/>
          <p:cNvSpPr txBox="1"/>
          <p:nvPr/>
        </p:nvSpPr>
        <p:spPr>
          <a:xfrm>
            <a:off x="838200" y="1607387"/>
            <a:ext cx="9488742" cy="830997"/>
          </a:xfrm>
          <a:prstGeom prst="rect">
            <a:avLst/>
          </a:prstGeom>
          <a:noFill/>
        </p:spPr>
        <p:txBody>
          <a:bodyPr wrap="square" rtlCol="0">
            <a:spAutoFit/>
          </a:bodyPr>
          <a:lstStyle/>
          <a:p>
            <a:r>
              <a:rPr lang="en-US" sz="2800" b="1" dirty="0" smtClean="0"/>
              <a:t>Observation</a:t>
            </a:r>
          </a:p>
          <a:p>
            <a:r>
              <a:rPr lang="en-US" sz="2000" dirty="0" smtClean="0"/>
              <a:t>Age and balance contain some outliers.</a:t>
            </a:r>
            <a:endParaRPr lang="en-US" sz="2000" dirty="0"/>
          </a:p>
        </p:txBody>
      </p:sp>
    </p:spTree>
    <p:extLst>
      <p:ext uri="{BB962C8B-B14F-4D97-AF65-F5344CB8AC3E}">
        <p14:creationId xmlns:p14="http://schemas.microsoft.com/office/powerpoint/2010/main" val="504635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Correlation Analysis</a:t>
            </a:r>
            <a:endParaRPr lang="en-IN" b="1" dirty="0"/>
          </a:p>
        </p:txBody>
      </p:sp>
      <p:sp>
        <p:nvSpPr>
          <p:cNvPr id="3" name="Content Placeholder 2"/>
          <p:cNvSpPr>
            <a:spLocks noGrp="1"/>
          </p:cNvSpPr>
          <p:nvPr>
            <p:ph idx="1"/>
          </p:nvPr>
        </p:nvSpPr>
        <p:spPr/>
        <p:txBody>
          <a:bodyPr/>
          <a:lstStyle/>
          <a:p>
            <a:pPr marL="0" indent="0">
              <a:buNone/>
            </a:pPr>
            <a:r>
              <a:rPr lang="en-US" b="1" dirty="0" smtClean="0"/>
              <a:t>Observations</a:t>
            </a:r>
          </a:p>
          <a:p>
            <a:r>
              <a:rPr lang="en-US" sz="2000" dirty="0" smtClean="0"/>
              <a:t>Age is positively correlated with churn. </a:t>
            </a:r>
          </a:p>
          <a:p>
            <a:r>
              <a:rPr lang="en-US" sz="2000" dirty="0" smtClean="0"/>
              <a:t>Active members are less likely to churn. </a:t>
            </a:r>
          </a:p>
          <a:p>
            <a:r>
              <a:rPr lang="en-US" sz="2000" dirty="0" smtClean="0"/>
              <a:t>Credit score has weak correlation with churn. </a:t>
            </a:r>
            <a:endParaRPr lang="en-US" sz="2000" dirty="0"/>
          </a:p>
        </p:txBody>
      </p:sp>
      <p:pic>
        <p:nvPicPr>
          <p:cNvPr id="4" name="Picture 3"/>
          <p:cNvPicPr>
            <a:picLocks noChangeAspect="1"/>
          </p:cNvPicPr>
          <p:nvPr/>
        </p:nvPicPr>
        <p:blipFill>
          <a:blip r:embed="rId2"/>
          <a:stretch>
            <a:fillRect/>
          </a:stretch>
        </p:blipFill>
        <p:spPr>
          <a:xfrm>
            <a:off x="6195002" y="1155578"/>
            <a:ext cx="5655252" cy="4984873"/>
          </a:xfrm>
          <a:prstGeom prst="rect">
            <a:avLst/>
          </a:prstGeom>
        </p:spPr>
      </p:pic>
    </p:spTree>
    <p:extLst>
      <p:ext uri="{BB962C8B-B14F-4D97-AF65-F5344CB8AC3E}">
        <p14:creationId xmlns:p14="http://schemas.microsoft.com/office/powerpoint/2010/main" val="316511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Scatter Plot Analysis</a:t>
            </a:r>
            <a:endParaRPr lang="en-IN" b="1" dirty="0"/>
          </a:p>
        </p:txBody>
      </p:sp>
      <p:sp>
        <p:nvSpPr>
          <p:cNvPr id="3" name="Content Placeholder 2"/>
          <p:cNvSpPr>
            <a:spLocks noGrp="1"/>
          </p:cNvSpPr>
          <p:nvPr>
            <p:ph idx="1"/>
          </p:nvPr>
        </p:nvSpPr>
        <p:spPr/>
        <p:txBody>
          <a:bodyPr/>
          <a:lstStyle/>
          <a:p>
            <a:r>
              <a:rPr lang="en-US" b="1" dirty="0" smtClean="0"/>
              <a:t>Observation</a:t>
            </a:r>
          </a:p>
          <a:p>
            <a:pPr marL="0" indent="0">
              <a:buNone/>
            </a:pPr>
            <a:r>
              <a:rPr lang="en-US" sz="2000" dirty="0" smtClean="0"/>
              <a:t>Customer age and balance show noticeable </a:t>
            </a:r>
          </a:p>
          <a:p>
            <a:pPr marL="0" indent="0">
              <a:buNone/>
            </a:pPr>
            <a:r>
              <a:rPr lang="en-US" sz="2000" dirty="0" smtClean="0"/>
              <a:t>variation among customers.</a:t>
            </a:r>
            <a:endParaRPr lang="en-US" sz="2000" dirty="0"/>
          </a:p>
        </p:txBody>
      </p:sp>
      <p:pic>
        <p:nvPicPr>
          <p:cNvPr id="4" name="Picture 3"/>
          <p:cNvPicPr>
            <a:picLocks noChangeAspect="1"/>
          </p:cNvPicPr>
          <p:nvPr/>
        </p:nvPicPr>
        <p:blipFill>
          <a:blip r:embed="rId2"/>
          <a:stretch>
            <a:fillRect/>
          </a:stretch>
        </p:blipFill>
        <p:spPr>
          <a:xfrm>
            <a:off x="5814710" y="1825625"/>
            <a:ext cx="6159817" cy="3854648"/>
          </a:xfrm>
          <a:prstGeom prst="rect">
            <a:avLst/>
          </a:prstGeom>
        </p:spPr>
      </p:pic>
    </p:spTree>
    <p:extLst>
      <p:ext uri="{BB962C8B-B14F-4D97-AF65-F5344CB8AC3E}">
        <p14:creationId xmlns:p14="http://schemas.microsoft.com/office/powerpoint/2010/main" val="47578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smtClean="0"/>
              <a:t>Pairplot</a:t>
            </a:r>
            <a:r>
              <a:rPr lang="en-IN" b="1" dirty="0" smtClean="0"/>
              <a:t> Analysis</a:t>
            </a:r>
            <a:endParaRPr lang="en-IN" b="1" dirty="0"/>
          </a:p>
        </p:txBody>
      </p:sp>
      <p:sp>
        <p:nvSpPr>
          <p:cNvPr id="3" name="Content Placeholder 2"/>
          <p:cNvSpPr>
            <a:spLocks noGrp="1"/>
          </p:cNvSpPr>
          <p:nvPr>
            <p:ph idx="1"/>
          </p:nvPr>
        </p:nvSpPr>
        <p:spPr/>
        <p:txBody>
          <a:bodyPr/>
          <a:lstStyle/>
          <a:p>
            <a:r>
              <a:rPr lang="en-US" b="1" dirty="0" smtClean="0"/>
              <a:t>Observation</a:t>
            </a:r>
          </a:p>
          <a:p>
            <a:pPr marL="0" indent="0">
              <a:buNone/>
            </a:pPr>
            <a:r>
              <a:rPr lang="en-US" sz="2000" dirty="0" smtClean="0"/>
              <a:t>Age demonstrates noticeable separation </a:t>
            </a:r>
          </a:p>
          <a:p>
            <a:pPr marL="0" indent="0">
              <a:buNone/>
            </a:pPr>
            <a:r>
              <a:rPr lang="en-US" sz="2000" dirty="0" smtClean="0"/>
              <a:t>between churned and non-churned customers.</a:t>
            </a:r>
            <a:endParaRPr lang="en-US" sz="2000" dirty="0"/>
          </a:p>
        </p:txBody>
      </p:sp>
      <p:pic>
        <p:nvPicPr>
          <p:cNvPr id="4" name="Picture 3"/>
          <p:cNvPicPr>
            <a:picLocks noChangeAspect="1"/>
          </p:cNvPicPr>
          <p:nvPr/>
        </p:nvPicPr>
        <p:blipFill>
          <a:blip r:embed="rId2"/>
          <a:stretch>
            <a:fillRect/>
          </a:stretch>
        </p:blipFill>
        <p:spPr>
          <a:xfrm>
            <a:off x="6096000" y="1230626"/>
            <a:ext cx="5938982" cy="4673840"/>
          </a:xfrm>
          <a:prstGeom prst="rect">
            <a:avLst/>
          </a:prstGeom>
        </p:spPr>
      </p:pic>
    </p:spTree>
    <p:extLst>
      <p:ext uri="{BB962C8B-B14F-4D97-AF65-F5344CB8AC3E}">
        <p14:creationId xmlns:p14="http://schemas.microsoft.com/office/powerpoint/2010/main" val="300506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Relationships and Trends</a:t>
            </a:r>
            <a:r>
              <a:rPr lang="en-IN" dirty="0"/>
              <a:t/>
            </a:r>
            <a:br>
              <a:rPr lang="en-IN" dirty="0"/>
            </a:br>
            <a:endParaRPr lang="en-IN" dirty="0"/>
          </a:p>
        </p:txBody>
      </p:sp>
      <p:sp>
        <p:nvSpPr>
          <p:cNvPr id="3" name="Content Placeholder 2"/>
          <p:cNvSpPr>
            <a:spLocks noGrp="1"/>
          </p:cNvSpPr>
          <p:nvPr>
            <p:ph idx="1"/>
          </p:nvPr>
        </p:nvSpPr>
        <p:spPr/>
        <p:txBody>
          <a:bodyPr/>
          <a:lstStyle/>
          <a:p>
            <a:r>
              <a:rPr lang="en-US" dirty="0" smtClean="0"/>
              <a:t>Churn by Age</a:t>
            </a:r>
          </a:p>
          <a:p>
            <a:r>
              <a:rPr lang="en-US" dirty="0" smtClean="0"/>
              <a:t>Churn by Country</a:t>
            </a:r>
            <a:endParaRPr lang="en-IN" dirty="0"/>
          </a:p>
        </p:txBody>
      </p:sp>
      <p:pic>
        <p:nvPicPr>
          <p:cNvPr id="5" name="Picture 4"/>
          <p:cNvPicPr>
            <a:picLocks noChangeAspect="1"/>
          </p:cNvPicPr>
          <p:nvPr/>
        </p:nvPicPr>
        <p:blipFill>
          <a:blip r:embed="rId2"/>
          <a:stretch>
            <a:fillRect/>
          </a:stretch>
        </p:blipFill>
        <p:spPr>
          <a:xfrm>
            <a:off x="838200" y="3211586"/>
            <a:ext cx="4398818" cy="2762392"/>
          </a:xfrm>
          <a:prstGeom prst="rect">
            <a:avLst/>
          </a:prstGeom>
        </p:spPr>
      </p:pic>
      <p:pic>
        <p:nvPicPr>
          <p:cNvPr id="6" name="Picture 5"/>
          <p:cNvPicPr>
            <a:picLocks noChangeAspect="1"/>
          </p:cNvPicPr>
          <p:nvPr/>
        </p:nvPicPr>
        <p:blipFill>
          <a:blip r:embed="rId3"/>
          <a:stretch>
            <a:fillRect/>
          </a:stretch>
        </p:blipFill>
        <p:spPr>
          <a:xfrm>
            <a:off x="5535711" y="3211586"/>
            <a:ext cx="4809016" cy="2711589"/>
          </a:xfrm>
          <a:prstGeom prst="rect">
            <a:avLst/>
          </a:prstGeom>
        </p:spPr>
      </p:pic>
    </p:spTree>
    <p:extLst>
      <p:ext uri="{BB962C8B-B14F-4D97-AF65-F5344CB8AC3E}">
        <p14:creationId xmlns:p14="http://schemas.microsoft.com/office/powerpoint/2010/main" val="1700775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Findings</a:t>
            </a:r>
            <a:endParaRPr lang="en-IN" b="1" dirty="0"/>
          </a:p>
        </p:txBody>
      </p:sp>
      <p:sp>
        <p:nvSpPr>
          <p:cNvPr id="4" name="Rectangle 1"/>
          <p:cNvSpPr>
            <a:spLocks noGrp="1" noChangeArrowheads="1"/>
          </p:cNvSpPr>
          <p:nvPr>
            <p:ph idx="1"/>
          </p:nvPr>
        </p:nvSpPr>
        <p:spPr bwMode="auto">
          <a:xfrm>
            <a:off x="838200" y="1350978"/>
            <a:ext cx="69669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Dataset contains 10,000 records and 11 useful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No missing values or duplicate records were found.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Majority of customers belong to France.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Most customers are aged between 30 and 45 years.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Age is positively correlated with churn.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Active members are less likely to leave the bank.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Germany exhibits relatively higher churn rates.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Credit score has weak correlation with churn.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Male and female customers are almost equally distributed. </a:t>
            </a:r>
          </a:p>
        </p:txBody>
      </p:sp>
    </p:spTree>
    <p:extLst>
      <p:ext uri="{BB962C8B-B14F-4D97-AF65-F5344CB8AC3E}">
        <p14:creationId xmlns:p14="http://schemas.microsoft.com/office/powerpoint/2010/main" val="61709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Conclusion</a:t>
            </a:r>
            <a:endParaRPr lang="en-IN" b="1" dirty="0"/>
          </a:p>
        </p:txBody>
      </p:sp>
      <p:sp>
        <p:nvSpPr>
          <p:cNvPr id="3" name="Content Placeholder 2"/>
          <p:cNvSpPr>
            <a:spLocks noGrp="1"/>
          </p:cNvSpPr>
          <p:nvPr>
            <p:ph idx="1"/>
          </p:nvPr>
        </p:nvSpPr>
        <p:spPr/>
        <p:txBody>
          <a:bodyPr>
            <a:normAutofit/>
          </a:bodyPr>
          <a:lstStyle/>
          <a:p>
            <a:pPr marL="0" indent="0">
              <a:buNone/>
            </a:pPr>
            <a:r>
              <a:rPr lang="en-US" sz="2000" dirty="0" smtClean="0"/>
              <a:t>The exploratory data analysis revealed that the dataset is clean and suitable for analysis. Age and customer activity show noticeable relationships with churn, while credit score has little association with customer attrition. Germany exhibits higher churn rates compared to France and Spain. These insights provide a foundation for further predictive modeling and customer retention strategies.</a:t>
            </a:r>
            <a:endParaRPr lang="en-IN" sz="2000" dirty="0"/>
          </a:p>
        </p:txBody>
      </p:sp>
    </p:spTree>
    <p:extLst>
      <p:ext uri="{BB962C8B-B14F-4D97-AF65-F5344CB8AC3E}">
        <p14:creationId xmlns:p14="http://schemas.microsoft.com/office/powerpoint/2010/main" val="1328380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295</Words>
  <Application>Microsoft Office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Exploratory Data Analysis of Bank Customer Churn Dataset</vt:lpstr>
      <vt:lpstr>Objective: Extract insights using visual and statistical exploration.</vt:lpstr>
      <vt:lpstr>Data Cleaning</vt:lpstr>
      <vt:lpstr>Age Distribution</vt:lpstr>
      <vt:lpstr>Credit Score Distribution</vt:lpstr>
      <vt:lpstr>Boxplots</vt:lpstr>
      <vt:lpstr>Correlation Analysis</vt:lpstr>
      <vt:lpstr>Scatter Plot Analysis</vt:lpstr>
      <vt:lpstr>Pairplot Analysis</vt:lpstr>
      <vt:lpstr>Relationships and Trends </vt:lpstr>
      <vt:lpstr>Key Findings</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of Bank Customer Churn Dataset</dc:title>
  <dc:creator>Microsoft account</dc:creator>
  <cp:lastModifiedBy>Microsoft account</cp:lastModifiedBy>
  <cp:revision>4</cp:revision>
  <dcterms:created xsi:type="dcterms:W3CDTF">2026-06-22T12:01:40Z</dcterms:created>
  <dcterms:modified xsi:type="dcterms:W3CDTF">2026-06-22T12:28:50Z</dcterms:modified>
</cp:coreProperties>
</file>